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35608"/>
          </a:xfrm>
          <a:prstGeom prst="rect">
            <a:avLst/>
          </a:prstGeom>
          <a:solidFill>
            <a:srgbClr val="444752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256032"/>
            <a:ext cx="914400" cy="914400"/>
          </a:xfrm>
          <a:prstGeom prst="ellipse">
            <a:avLst/>
          </a:prstGeom>
          <a:solidFill>
            <a:srgbClr val="1B1D26"/>
          </a:solidFill>
          <a:ln w="19050">
            <a:solidFill>
              <a:srgbClr val="F98A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5603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8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973568" y="256032"/>
            <a:ext cx="914400" cy="914400"/>
          </a:xfrm>
          <a:prstGeom prst="ellipse">
            <a:avLst/>
          </a:prstGeom>
          <a:solidFill>
            <a:srgbClr val="1B1D26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73568" y="25603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" y="109728"/>
            <a:ext cx="70774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spc="100" kern="0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ANJUMAN COLLEGE OF ENGINEERING &amp; TECHNOLOGY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33272" y="777240"/>
            <a:ext cx="7077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MANGALWARI BAZAR ROAD, SADAR, NAGPUR - 440001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1431036"/>
            <a:ext cx="9144000" cy="45720"/>
          </a:xfrm>
          <a:prstGeom prst="rect">
            <a:avLst/>
          </a:prstGeom>
          <a:solidFill>
            <a:srgbClr val="F98AC7"/>
          </a:solidFill>
          <a:ln/>
        </p:spPr>
      </p:sp>
      <p:sp>
        <p:nvSpPr>
          <p:cNvPr id="10" name="Shape 8"/>
          <p:cNvSpPr/>
          <p:nvPr/>
        </p:nvSpPr>
        <p:spPr>
          <a:xfrm>
            <a:off x="1161288" y="1920240"/>
            <a:ext cx="6821424" cy="2752344"/>
          </a:xfrm>
          <a:prstGeom prst="rect">
            <a:avLst/>
          </a:prstGeom>
          <a:solidFill>
            <a:srgbClr val="444752">
              <a:alpha val="58000"/>
            </a:srgbClr>
          </a:solidFill>
          <a:ln w="12700">
            <a:solidFill>
              <a:srgbClr val="F98A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1214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8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2377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Yusuf Javed Sheikh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28346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8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&amp; SECTION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17320" y="3090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 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5478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8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380390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(Unit 2)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0" y="21214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8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37744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283464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8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09067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354787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8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803904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(NLP)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is NLP?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computers to understand and generate human language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(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F98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is a branch of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enables computers to read, understand, interpret, and generate human language — both text and speech. It combines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F98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linguistics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statistical and deep learning models, letting machines process language while capturing meaning, context, and intent, much like a human would.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697480"/>
            <a:ext cx="3931920" cy="2103120"/>
          </a:xfrm>
          <a:prstGeom prst="rect">
            <a:avLst/>
          </a:prstGeom>
          <a:solidFill>
            <a:srgbClr val="444752">
              <a:alpha val="62000"/>
            </a:srgbClr>
          </a:solidFill>
          <a:ln w="12700">
            <a:solidFill>
              <a:srgbClr val="F98A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8529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8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raw text into words and sentences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grammar, structure and meaning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from large language datasets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response, label, or translation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2697480"/>
            <a:ext cx="3931920" cy="2103120"/>
          </a:xfrm>
          <a:prstGeom prst="rect">
            <a:avLst/>
          </a:prstGeom>
          <a:solidFill>
            <a:srgbClr val="444752">
              <a:alpha val="62000"/>
            </a:srgbClr>
          </a:solidFill>
          <a:ln w="12700">
            <a:solidFill>
              <a:srgbClr val="F98A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28529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8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83480" y="315468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unstructured text and speech data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with ambiguity, context and tone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linguistics with machine learning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continuously with more data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Core Concepts of NLP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behind every language-processing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51760" cy="1572768"/>
          </a:xfrm>
          <a:prstGeom prst="rect">
            <a:avLst/>
          </a:prstGeom>
          <a:solidFill>
            <a:srgbClr val="444752">
              <a:alpha val="60000"/>
            </a:srgbClr>
          </a:solidFill>
          <a:ln w="12700">
            <a:solidFill>
              <a:srgbClr val="F98A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562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text into smaller units — words, phrases or sentences — for further analysis.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64408" y="1417320"/>
            <a:ext cx="2651760" cy="1572768"/>
          </a:xfrm>
          <a:prstGeom prst="rect">
            <a:avLst/>
          </a:prstGeom>
          <a:solidFill>
            <a:srgbClr val="444752">
              <a:alpha val="60000"/>
            </a:srgbClr>
          </a:solidFill>
          <a:ln w="12700">
            <a:solidFill>
              <a:srgbClr val="F98A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01568" y="18562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Tagging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01568" y="219456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Labelling each word with its part of speech, such as noun, verb, or adjective.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25896" y="1417320"/>
            <a:ext cx="2651760" cy="1572768"/>
          </a:xfrm>
          <a:prstGeom prst="rect">
            <a:avLst/>
          </a:prstGeom>
          <a:solidFill>
            <a:srgbClr val="444752">
              <a:alpha val="60000"/>
            </a:srgbClr>
          </a:solidFill>
          <a:ln w="12700">
            <a:solidFill>
              <a:srgbClr val="F98A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3056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63056" y="18562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63056" y="219456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names of people, places, organisations and dates within text.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154680"/>
            <a:ext cx="2651760" cy="1572768"/>
          </a:xfrm>
          <a:prstGeom prst="rect">
            <a:avLst/>
          </a:prstGeom>
          <a:solidFill>
            <a:srgbClr val="444752">
              <a:alpha val="60000"/>
            </a:srgbClr>
          </a:solidFill>
          <a:ln w="12700">
            <a:solidFill>
              <a:srgbClr val="F98A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35935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 &amp; Lemmatization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words to their root or base form, e.g. 'running' to 'run'.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64408" y="3154680"/>
            <a:ext cx="2651760" cy="1572768"/>
          </a:xfrm>
          <a:prstGeom prst="rect">
            <a:avLst/>
          </a:prstGeom>
          <a:solidFill>
            <a:srgbClr val="444752">
              <a:alpha val="60000"/>
            </a:srgbClr>
          </a:solidFill>
          <a:ln w="12700">
            <a:solidFill>
              <a:srgbClr val="F98A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01568" y="35935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401568" y="393192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grammatical structure to understand how words relate to one another.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25896" y="3154680"/>
            <a:ext cx="2651760" cy="1572768"/>
          </a:xfrm>
          <a:prstGeom prst="rect">
            <a:avLst/>
          </a:prstGeom>
          <a:solidFill>
            <a:srgbClr val="444752">
              <a:alpha val="60000"/>
            </a:srgbClr>
          </a:solidFill>
          <a:ln w="12700">
            <a:solidFill>
              <a:srgbClr val="F98A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63056" y="35935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163056" y="393192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Representing words as numeric vectors that capture meaning and context.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5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Applications of NLP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language processing powers everyday technology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51760" cy="1572768"/>
          </a:xfrm>
          <a:prstGeom prst="rect">
            <a:avLst/>
          </a:prstGeom>
          <a:solidFill>
            <a:srgbClr val="444752">
              <a:alpha val="60000"/>
            </a:srgbClr>
          </a:solidFill>
          <a:ln w="12700">
            <a:solidFill>
              <a:srgbClr val="F98A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562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&amp; Virtual Assistants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assistants like Siri and Alexa to understand and respond to voice or text queries.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64408" y="1417320"/>
            <a:ext cx="2651760" cy="1572768"/>
          </a:xfrm>
          <a:prstGeom prst="rect">
            <a:avLst/>
          </a:prstGeom>
          <a:solidFill>
            <a:srgbClr val="444752">
              <a:alpha val="60000"/>
            </a:srgbClr>
          </a:solidFill>
          <a:ln w="12700">
            <a:solidFill>
              <a:srgbClr val="F98A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01568" y="18562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22860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text between languages instantly, as in Google Translate.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25896" y="1417320"/>
            <a:ext cx="2651760" cy="1572768"/>
          </a:xfrm>
          <a:prstGeom prst="rect">
            <a:avLst/>
          </a:prstGeom>
          <a:solidFill>
            <a:srgbClr val="444752">
              <a:alpha val="60000"/>
            </a:srgbClr>
          </a:solidFill>
          <a:ln w="12700">
            <a:solidFill>
              <a:srgbClr val="F98A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3056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63056" y="18562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63056" y="22860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opinion and emotion in reviews, social media posts and feedback.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154680"/>
            <a:ext cx="2651760" cy="1572768"/>
          </a:xfrm>
          <a:prstGeom prst="rect">
            <a:avLst/>
          </a:prstGeom>
          <a:solidFill>
            <a:srgbClr val="444752">
              <a:alpha val="60000"/>
            </a:srgbClr>
          </a:solidFill>
          <a:ln w="12700">
            <a:solidFill>
              <a:srgbClr val="F98A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35935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&amp; Content Filtering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02336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unwanted emails and harmful or inappropriate content automatically.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64408" y="3154680"/>
            <a:ext cx="2651760" cy="1572768"/>
          </a:xfrm>
          <a:prstGeom prst="rect">
            <a:avLst/>
          </a:prstGeom>
          <a:solidFill>
            <a:srgbClr val="444752">
              <a:alpha val="60000"/>
            </a:srgbClr>
          </a:solidFill>
          <a:ln w="12700">
            <a:solidFill>
              <a:srgbClr val="F98A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01568" y="35935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Summarization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01568" y="402336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Condenses lengthy articles or documents into concise summaries.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25896" y="3154680"/>
            <a:ext cx="2651760" cy="1572768"/>
          </a:xfrm>
          <a:prstGeom prst="rect">
            <a:avLst/>
          </a:prstGeom>
          <a:solidFill>
            <a:srgbClr val="444752">
              <a:alpha val="60000"/>
            </a:srgbClr>
          </a:solidFill>
          <a:ln w="12700">
            <a:solidFill>
              <a:srgbClr val="F98A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63056" y="35935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63056" y="402336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spoken language into text for dictation and voice commands.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2026-10-03T10:03:53Z</dcterms:created>
  <dcterms:modified xsi:type="dcterms:W3CDTF">2026-10-03T10:03:53Z</dcterms:modified>
</cp:coreProperties>
</file>